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1" r:id="rId4"/>
    <p:sldId id="262" r:id="rId5"/>
    <p:sldId id="263" r:id="rId6"/>
    <p:sldId id="264" r:id="rId7"/>
    <p:sldId id="265" r:id="rId8"/>
    <p:sldId id="267" r:id="rId9"/>
    <p:sldId id="266"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0" Type="http://schemas.openxmlformats.org/officeDocument/2006/relationships/tags" Target="../tags/tag6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Ellipse 36-2083&amp;10099"/>
          <p:cNvSpPr/>
          <p:nvPr userDrawn="1">
            <p:custDataLst>
              <p:tags r:id="rId2"/>
            </p:custDataLst>
          </p:nvPr>
        </p:nvSpPr>
        <p:spPr>
          <a:xfrm>
            <a:off x="0" y="2377440"/>
            <a:ext cx="5193792" cy="4480560"/>
          </a:xfrm>
          <a:custGeom>
            <a:avLst/>
            <a:gdLst/>
            <a:ahLst/>
            <a:cxnLst/>
            <a:rect l="l" t="t" r="r" b="b"/>
            <a:pathLst>
              <a:path w="5193792" h="4480560">
                <a:moveTo>
                  <a:pt x="4828032" y="4480560"/>
                </a:moveTo>
                <a:lnTo>
                  <a:pt x="0" y="4480560"/>
                </a:lnTo>
                <a:lnTo>
                  <a:pt x="0" y="896112"/>
                </a:lnTo>
                <a:cubicBezTo>
                  <a:pt x="548640" y="338328"/>
                  <a:pt x="1307592" y="0"/>
                  <a:pt x="2148840" y="0"/>
                </a:cubicBezTo>
                <a:cubicBezTo>
                  <a:pt x="3831336" y="0"/>
                  <a:pt x="5193792" y="1362456"/>
                  <a:pt x="5193792" y="3044952"/>
                </a:cubicBezTo>
                <a:cubicBezTo>
                  <a:pt x="5193792" y="3566160"/>
                  <a:pt x="5065776" y="4050792"/>
                  <a:pt x="4828032" y="4480560"/>
                </a:cubicBezTo>
              </a:path>
            </a:pathLst>
          </a:custGeom>
          <a:solidFill>
            <a:schemeClr val="tx2">
              <a:alpha val="5000"/>
            </a:schemeClr>
          </a:solidFill>
        </p:spPr>
        <p:txBody>
          <a:bodyPr/>
          <a:lstStyle/>
          <a:p>
            <a:endParaRPr lang="zh-CN" altLang="en-US"/>
          </a:p>
        </p:txBody>
      </p:sp>
      <p:sp>
        <p:nvSpPr>
          <p:cNvPr id="8" name="Ellipse 37 (Stroke)_#color-2083&amp;10102"/>
          <p:cNvSpPr/>
          <p:nvPr userDrawn="1">
            <p:custDataLst>
              <p:tags r:id="rId3"/>
            </p:custDataLst>
          </p:nvPr>
        </p:nvSpPr>
        <p:spPr>
          <a:xfrm>
            <a:off x="0" y="0"/>
            <a:ext cx="2505456" cy="3108960"/>
          </a:xfrm>
          <a:custGeom>
            <a:avLst/>
            <a:gdLst/>
            <a:ahLst/>
            <a:cxnLst/>
            <a:rect l="l" t="t" r="r" b="b"/>
            <a:pathLst>
              <a:path w="2505456" h="3108960">
                <a:moveTo>
                  <a:pt x="0" y="2505456"/>
                </a:moveTo>
                <a:cubicBezTo>
                  <a:pt x="100584" y="2523744"/>
                  <a:pt x="201168" y="2532888"/>
                  <a:pt x="301752" y="2532888"/>
                </a:cubicBezTo>
                <a:cubicBezTo>
                  <a:pt x="1207008" y="2532888"/>
                  <a:pt x="1938528" y="1801368"/>
                  <a:pt x="1938528" y="905256"/>
                </a:cubicBezTo>
                <a:cubicBezTo>
                  <a:pt x="1938528" y="566928"/>
                  <a:pt x="1837944" y="256032"/>
                  <a:pt x="1664208" y="0"/>
                </a:cubicBezTo>
                <a:lnTo>
                  <a:pt x="2313432" y="0"/>
                </a:lnTo>
                <a:cubicBezTo>
                  <a:pt x="2441448" y="274320"/>
                  <a:pt x="2505456" y="576072"/>
                  <a:pt x="2505456" y="905256"/>
                </a:cubicBezTo>
                <a:cubicBezTo>
                  <a:pt x="2505456" y="2121408"/>
                  <a:pt x="1517904" y="3108960"/>
                  <a:pt x="301752" y="3108960"/>
                </a:cubicBezTo>
                <a:cubicBezTo>
                  <a:pt x="201168" y="3108960"/>
                  <a:pt x="100584" y="3099816"/>
                  <a:pt x="0" y="3081528"/>
                </a:cubicBezTo>
                <a:lnTo>
                  <a:pt x="0" y="2505456"/>
                </a:lnTo>
              </a:path>
            </a:pathLst>
          </a:custGeom>
          <a:solidFill>
            <a:schemeClr val="accent1"/>
          </a:solidFill>
        </p:spPr>
      </p:sp>
      <p:sp>
        <p:nvSpPr>
          <p:cNvPr id="9" name="Ellipse 38_#color-2082&amp;9905"/>
          <p:cNvSpPr/>
          <p:nvPr userDrawn="1">
            <p:custDataLst>
              <p:tags r:id="rId4"/>
            </p:custDataLst>
          </p:nvPr>
        </p:nvSpPr>
        <p:spPr>
          <a:xfrm>
            <a:off x="9464040" y="4379976"/>
            <a:ext cx="1609344" cy="1609344"/>
          </a:xfrm>
          <a:prstGeom prst="ellipse">
            <a:avLst/>
          </a:prstGeom>
          <a:solidFill>
            <a:schemeClr val="accent1"/>
          </a:solidFill>
        </p:spPr>
      </p:sp>
      <p:sp>
        <p:nvSpPr>
          <p:cNvPr id="11" name="Ellipse 39-2082&amp;9906"/>
          <p:cNvSpPr/>
          <p:nvPr userDrawn="1">
            <p:custDataLst>
              <p:tags r:id="rId5"/>
            </p:custDataLst>
          </p:nvPr>
        </p:nvSpPr>
        <p:spPr>
          <a:xfrm>
            <a:off x="11338560" y="3617849"/>
            <a:ext cx="530352" cy="530352"/>
          </a:xfrm>
          <a:prstGeom prst="ellipse">
            <a:avLst/>
          </a:prstGeom>
          <a:solidFill>
            <a:schemeClr val="tx2">
              <a:alpha val="43000"/>
            </a:schemeClr>
          </a:solidFill>
        </p:spPr>
      </p:sp>
      <p:sp>
        <p:nvSpPr>
          <p:cNvPr id="2" name="标题 1"/>
          <p:cNvSpPr>
            <a:spLocks noGrp="1"/>
          </p:cNvSpPr>
          <p:nvPr>
            <p:ph type="ctrTitle" hasCustomPrompt="1"/>
            <p:custDataLst>
              <p:tags r:id="rId6"/>
            </p:custDataLst>
          </p:nvPr>
        </p:nvSpPr>
        <p:spPr>
          <a:xfrm>
            <a:off x="1870709" y="1862454"/>
            <a:ext cx="9467850" cy="2628901"/>
          </a:xfrm>
        </p:spPr>
        <p:txBody>
          <a:bodyPr wrap="square" anchor="b" anchorCtr="0">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1870709" y="4790127"/>
            <a:ext cx="7492365" cy="1177603"/>
          </a:xfrm>
        </p:spPr>
        <p:txBody>
          <a:bodyPr wrap="square" anchor="t">
            <a:normAutofit/>
          </a:bodyPr>
          <a:lstStyle>
            <a:lvl1pPr marL="0" indent="0" algn="l">
              <a:lnSpc>
                <a:spcPct val="100000"/>
              </a:lnSpc>
              <a:buNone/>
              <a:defRPr sz="2400">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7" name="日期占位符 3"/>
          <p:cNvSpPr>
            <a:spLocks noGrp="1"/>
          </p:cNvSpPr>
          <p:nvPr>
            <p:ph type="dt" sz="half" idx="10"/>
            <p:custDataLst>
              <p:tags r:id="rId2"/>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4"/>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4" name="Ellipse 36-2082&amp;9912"/>
          <p:cNvSpPr/>
          <p:nvPr userDrawn="1">
            <p:custDataLst>
              <p:tags r:id="rId5"/>
            </p:custDataLst>
          </p:nvPr>
        </p:nvSpPr>
        <p:spPr>
          <a:xfrm>
            <a:off x="6976872" y="1005840"/>
            <a:ext cx="4343400" cy="4343400"/>
          </a:xfrm>
          <a:prstGeom prst="ellipse">
            <a:avLst/>
          </a:prstGeom>
          <a:solidFill>
            <a:schemeClr val="tx2">
              <a:alpha val="5000"/>
            </a:schemeClr>
          </a:solidFill>
        </p:spPr>
        <p:txBody>
          <a:bodyPr/>
          <a:lstStyle/>
          <a:p>
            <a:endParaRPr lang="en-US" dirty="0">
              <a:latin typeface="Arial" panose="020B0604020202020204" pitchFamily="34" charset="0"/>
              <a:cs typeface="Arial" panose="020B0604020202020204" pitchFamily="34" charset="0"/>
              <a:sym typeface="Arial" panose="020B0604020202020204" pitchFamily="34" charset="0"/>
            </a:endParaRPr>
          </a:p>
        </p:txBody>
      </p:sp>
      <p:sp>
        <p:nvSpPr>
          <p:cNvPr id="5" name="Ellipse 37 (Stroke)_#color-2083&amp;10105"/>
          <p:cNvSpPr/>
          <p:nvPr userDrawn="1">
            <p:custDataLst>
              <p:tags r:id="rId6"/>
            </p:custDataLst>
          </p:nvPr>
        </p:nvSpPr>
        <p:spPr>
          <a:xfrm>
            <a:off x="7159752" y="0"/>
            <a:ext cx="3977640" cy="2258568"/>
          </a:xfrm>
          <a:custGeom>
            <a:avLst/>
            <a:gdLst/>
            <a:ahLst/>
            <a:cxnLst/>
            <a:rect l="l" t="t" r="r" b="b"/>
            <a:pathLst>
              <a:path w="3977640" h="2258568">
                <a:moveTo>
                  <a:pt x="594360" y="0"/>
                </a:moveTo>
                <a:cubicBezTo>
                  <a:pt x="576072" y="82296"/>
                  <a:pt x="576072" y="173736"/>
                  <a:pt x="576072" y="265176"/>
                </a:cubicBezTo>
                <a:cubicBezTo>
                  <a:pt x="576072" y="1051560"/>
                  <a:pt x="1207008" y="1682496"/>
                  <a:pt x="1984248" y="1682496"/>
                </a:cubicBezTo>
                <a:cubicBezTo>
                  <a:pt x="2770632" y="1682496"/>
                  <a:pt x="3401568" y="1051560"/>
                  <a:pt x="3401568" y="265176"/>
                </a:cubicBezTo>
                <a:cubicBezTo>
                  <a:pt x="3401568" y="173736"/>
                  <a:pt x="3392424" y="82296"/>
                  <a:pt x="3374136" y="0"/>
                </a:cubicBezTo>
                <a:lnTo>
                  <a:pt x="3959352" y="0"/>
                </a:lnTo>
                <a:cubicBezTo>
                  <a:pt x="3968496" y="91440"/>
                  <a:pt x="3977640" y="173736"/>
                  <a:pt x="3977640" y="265176"/>
                </a:cubicBezTo>
                <a:cubicBezTo>
                  <a:pt x="3977640" y="1362456"/>
                  <a:pt x="3081528" y="2258568"/>
                  <a:pt x="1984248" y="2258568"/>
                </a:cubicBezTo>
                <a:cubicBezTo>
                  <a:pt x="886968" y="2258568"/>
                  <a:pt x="0" y="1362456"/>
                  <a:pt x="0" y="265176"/>
                </a:cubicBezTo>
                <a:cubicBezTo>
                  <a:pt x="0" y="173736"/>
                  <a:pt x="9144" y="91440"/>
                  <a:pt x="18288" y="0"/>
                </a:cubicBezTo>
                <a:lnTo>
                  <a:pt x="594360" y="0"/>
                </a:lnTo>
              </a:path>
            </a:pathLst>
          </a:custGeom>
          <a:solidFill>
            <a:schemeClr val="accent1"/>
          </a:solidFill>
        </p:spPr>
      </p:sp>
      <p:sp>
        <p:nvSpPr>
          <p:cNvPr id="2" name="标题 1"/>
          <p:cNvSpPr>
            <a:spLocks noGrp="1"/>
          </p:cNvSpPr>
          <p:nvPr>
            <p:ph type="title" hasCustomPrompt="1"/>
            <p:custDataLst>
              <p:tags r:id="rId7"/>
            </p:custDataLst>
          </p:nvPr>
        </p:nvSpPr>
        <p:spPr>
          <a:xfrm>
            <a:off x="7709207" y="2637205"/>
            <a:ext cx="2880000" cy="1081088"/>
          </a:xfrm>
        </p:spPr>
        <p:txBody>
          <a:bodyPr wrap="square" anchor="b">
            <a:normAutofit/>
          </a:bodyPr>
          <a:lstStyle>
            <a:lvl1pPr algn="ctr">
              <a:defRPr sz="4300">
                <a:latin typeface="+mj-lt"/>
              </a:defRPr>
            </a:lvl1pPr>
          </a:lstStyle>
          <a:p>
            <a:r>
              <a:rPr lang="en-US" dirty="0">
                <a:latin typeface="+mj-lt"/>
              </a:rPr>
              <a:t>Click to add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Ellipse 36_#color-2083&amp;10108"/>
          <p:cNvSpPr/>
          <p:nvPr userDrawn="1">
            <p:custDataLst>
              <p:tags r:id="rId2"/>
            </p:custDataLst>
          </p:nvPr>
        </p:nvSpPr>
        <p:spPr>
          <a:xfrm>
            <a:off x="0" y="566928"/>
            <a:ext cx="5422392" cy="6291072"/>
          </a:xfrm>
          <a:custGeom>
            <a:avLst/>
            <a:gdLst/>
            <a:ahLst/>
            <a:cxnLst/>
            <a:rect l="l" t="t" r="r" b="b"/>
            <a:pathLst>
              <a:path w="5422392" h="6291072">
                <a:moveTo>
                  <a:pt x="4425696" y="6291072"/>
                </a:moveTo>
                <a:lnTo>
                  <a:pt x="0" y="6291072"/>
                </a:lnTo>
                <a:lnTo>
                  <a:pt x="0" y="393192"/>
                </a:lnTo>
                <a:cubicBezTo>
                  <a:pt x="502920" y="137160"/>
                  <a:pt x="1069848" y="0"/>
                  <a:pt x="1673352" y="0"/>
                </a:cubicBezTo>
                <a:cubicBezTo>
                  <a:pt x="3739896" y="0"/>
                  <a:pt x="5422392" y="1673352"/>
                  <a:pt x="5422392" y="3749040"/>
                </a:cubicBezTo>
                <a:cubicBezTo>
                  <a:pt x="5422392" y="4727448"/>
                  <a:pt x="5047488" y="5614416"/>
                  <a:pt x="4425696" y="6291072"/>
                </a:cubicBezTo>
              </a:path>
            </a:pathLst>
          </a:custGeom>
          <a:solidFill>
            <a:schemeClr val="accent1"/>
          </a:solidFill>
        </p:spPr>
      </p:sp>
      <p:sp>
        <p:nvSpPr>
          <p:cNvPr id="9" name="Ellipse 38_#color_#strokes-2083&amp;10111"/>
          <p:cNvSpPr/>
          <p:nvPr userDrawn="1">
            <p:custDataLst>
              <p:tags r:id="rId3"/>
            </p:custDataLst>
          </p:nvPr>
        </p:nvSpPr>
        <p:spPr>
          <a:xfrm>
            <a:off x="11314176" y="1463040"/>
            <a:ext cx="877824" cy="1399032"/>
          </a:xfrm>
          <a:custGeom>
            <a:avLst/>
            <a:gdLst/>
            <a:ahLst/>
            <a:cxnLst/>
            <a:rect l="l" t="t" r="r" b="b"/>
            <a:pathLst>
              <a:path w="877824" h="1399032">
                <a:moveTo>
                  <a:pt x="877824" y="18288"/>
                </a:moveTo>
                <a:lnTo>
                  <a:pt x="877824" y="1371600"/>
                </a:lnTo>
                <a:cubicBezTo>
                  <a:pt x="822960" y="1389888"/>
                  <a:pt x="758952" y="1399032"/>
                  <a:pt x="694944" y="1399032"/>
                </a:cubicBezTo>
                <a:cubicBezTo>
                  <a:pt x="310896" y="1399032"/>
                  <a:pt x="0" y="1088136"/>
                  <a:pt x="0" y="694944"/>
                </a:cubicBezTo>
                <a:cubicBezTo>
                  <a:pt x="0" y="310896"/>
                  <a:pt x="310896" y="0"/>
                  <a:pt x="694944" y="0"/>
                </a:cubicBezTo>
                <a:cubicBezTo>
                  <a:pt x="758952" y="0"/>
                  <a:pt x="822960" y="9144"/>
                  <a:pt x="877824" y="18288"/>
                </a:cubicBezTo>
              </a:path>
            </a:pathLst>
          </a:custGeom>
          <a:solidFill>
            <a:schemeClr val="accent1"/>
          </a:solidFill>
        </p:spPr>
      </p:sp>
      <p:sp>
        <p:nvSpPr>
          <p:cNvPr id="10" name="Ellipse 39_#color_#strokes-2082&amp;9935"/>
          <p:cNvSpPr/>
          <p:nvPr userDrawn="1">
            <p:custDataLst>
              <p:tags r:id="rId4"/>
            </p:custDataLst>
          </p:nvPr>
        </p:nvSpPr>
        <p:spPr>
          <a:xfrm>
            <a:off x="10131552" y="301752"/>
            <a:ext cx="530352" cy="530352"/>
          </a:xfrm>
          <a:prstGeom prst="ellipse">
            <a:avLst/>
          </a:prstGeom>
          <a:solidFill>
            <a:schemeClr val="tx2">
              <a:alpha val="43000"/>
            </a:schemeClr>
          </a:solidFill>
        </p:spPr>
      </p:sp>
      <p:sp>
        <p:nvSpPr>
          <p:cNvPr id="2" name="标题 1"/>
          <p:cNvSpPr>
            <a:spLocks noGrp="1"/>
          </p:cNvSpPr>
          <p:nvPr>
            <p:ph type="title" hasCustomPrompt="1"/>
            <p:custDataLst>
              <p:tags r:id="rId5"/>
            </p:custDataLst>
          </p:nvPr>
        </p:nvSpPr>
        <p:spPr>
          <a:xfrm>
            <a:off x="5850890" y="1621790"/>
            <a:ext cx="5464175" cy="2789555"/>
          </a:xfrm>
        </p:spPr>
        <p:txBody>
          <a:bodyPr wrap="square" anchor="ctr" anchorCtr="0">
            <a:normAutofit/>
          </a:bodyPr>
          <a:lstStyle>
            <a:lvl1pPr algn="l">
              <a:defRPr sz="4800">
                <a:latin typeface="+mj-lt"/>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6"/>
            </p:custDataLst>
          </p:nvPr>
        </p:nvSpPr>
        <p:spPr>
          <a:xfrm>
            <a:off x="1130518" y="665438"/>
            <a:ext cx="4402908" cy="4700971"/>
          </a:xfrm>
        </p:spPr>
        <p:txBody>
          <a:bodyPr wrap="none" anchor="ctr">
            <a:normAutofit/>
          </a:bodyPr>
          <a:lstStyle>
            <a:lvl1pPr marL="0" indent="0" algn="ctr">
              <a:buNone/>
              <a:defRPr sz="15300" b="1">
                <a:solidFill>
                  <a:srgbClr val="FFFFFF"/>
                </a:solidFill>
                <a:latin typeface="+mn-lt"/>
                <a:sym typeface="Arial" panose="020B0604020202020204" pitchFamily="34" charset="0"/>
              </a:defRPr>
            </a:lvl1pPr>
          </a:lstStyle>
          <a:p>
            <a:pPr lvl="0"/>
            <a:r>
              <a:rPr lang="en-US" dirty="0">
                <a:latin typeface="+mn-lt"/>
              </a:rPr>
              <a:t>text</a:t>
            </a:r>
            <a:endParaRPr lang="en-US" dirty="0"/>
          </a:p>
        </p:txBody>
      </p:sp>
      <p:sp>
        <p:nvSpPr>
          <p:cNvPr id="4" name="日期占位符 4"/>
          <p:cNvSpPr>
            <a:spLocks noGrp="1"/>
          </p:cNvSpPr>
          <p:nvPr>
            <p:ph type="dt" sz="half" idx="10"/>
            <p:custDataLst>
              <p:tags r:id="rId7"/>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5"/>
          <p:cNvSpPr>
            <a:spLocks noGrp="1"/>
          </p:cNvSpPr>
          <p:nvPr>
            <p:ph type="ftr" sz="quarter" idx="11"/>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6"/>
          <p:cNvSpPr>
            <a:spLocks noGrp="1"/>
          </p:cNvSpPr>
          <p:nvPr>
            <p:ph type="sldNum" sz="quarter" idx="12"/>
            <p:custDataLst>
              <p:tags r:id="rId9"/>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b">
            <a:normAutofit/>
          </a:bodyPr>
          <a:lstStyle>
            <a:lvl1pPr>
              <a:defRPr lang="en-US" dirty="0">
                <a:latin typeface="+mj-lt"/>
                <a:sym typeface="Arial" panose="020B06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4800" y="1364400"/>
            <a:ext cx="5181600" cy="48132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313200" y="1364400"/>
            <a:ext cx="5181600" cy="48132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4800" y="360000"/>
            <a:ext cx="10800000" cy="720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4800" y="1364400"/>
            <a:ext cx="5157787"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4800" y="2061275"/>
            <a:ext cx="5157787" cy="4128388"/>
          </a:xfrm>
        </p:spPr>
        <p:txBody>
          <a:bodyPr wrap="square">
            <a:normAutofit/>
          </a:bodyPr>
          <a:lstStyle>
            <a:lvl1pPr>
              <a:defRPr sz="2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311612" y="1364400"/>
            <a:ext cx="5183188" cy="540000"/>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311612" y="2061275"/>
            <a:ext cx="5183188" cy="4128388"/>
          </a:xfrm>
        </p:spPr>
        <p:txBody>
          <a:bodyPr wrap="square">
            <a:normAutofit/>
          </a:bodyPr>
          <a:lstStyle>
            <a:lvl1pPr>
              <a:defRPr sz="22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838200" y="360000"/>
            <a:ext cx="10515600" cy="58176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4800" y="360000"/>
            <a:ext cx="10800000" cy="720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4800" y="1296000"/>
            <a:ext cx="10800000" cy="576000"/>
          </a:xfrm>
        </p:spPr>
        <p:txBody>
          <a:bodyPr wrap="square" anchor="t">
            <a:normAutofit/>
          </a:bodyPr>
          <a:lstStyle>
            <a:lvl1pPr marL="0" indent="0">
              <a:buNone/>
              <a:defRPr sz="2400" b="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Ellipse 36-2083&amp;10120"/>
          <p:cNvSpPr/>
          <p:nvPr userDrawn="1">
            <p:custDataLst>
              <p:tags r:id="rId2"/>
            </p:custDataLst>
          </p:nvPr>
        </p:nvSpPr>
        <p:spPr>
          <a:xfrm>
            <a:off x="0" y="2679192"/>
            <a:ext cx="5056632" cy="4178808"/>
          </a:xfrm>
          <a:custGeom>
            <a:avLst/>
            <a:gdLst/>
            <a:ahLst/>
            <a:cxnLst/>
            <a:rect l="l" t="t" r="r" b="b"/>
            <a:pathLst>
              <a:path w="5056632" h="4178808">
                <a:moveTo>
                  <a:pt x="4837176" y="4178808"/>
                </a:moveTo>
                <a:lnTo>
                  <a:pt x="0" y="4178808"/>
                </a:lnTo>
                <a:lnTo>
                  <a:pt x="0" y="758952"/>
                </a:lnTo>
                <a:cubicBezTo>
                  <a:pt x="539496" y="283464"/>
                  <a:pt x="1243584" y="0"/>
                  <a:pt x="2011680" y="0"/>
                </a:cubicBezTo>
                <a:cubicBezTo>
                  <a:pt x="3694176" y="0"/>
                  <a:pt x="5056632" y="1362456"/>
                  <a:pt x="5056632" y="3044952"/>
                </a:cubicBezTo>
                <a:cubicBezTo>
                  <a:pt x="5056632" y="3447288"/>
                  <a:pt x="4974336" y="3831336"/>
                  <a:pt x="4837176" y="4178808"/>
                </a:cubicBezTo>
              </a:path>
            </a:pathLst>
          </a:custGeom>
          <a:solidFill>
            <a:schemeClr val="tx2">
              <a:alpha val="5000"/>
            </a:schemeClr>
          </a:solidFill>
        </p:spPr>
      </p:sp>
      <p:sp>
        <p:nvSpPr>
          <p:cNvPr id="8" name="Ellipse 38_#color_#strokes-2082&amp;9949"/>
          <p:cNvSpPr/>
          <p:nvPr userDrawn="1">
            <p:custDataLst>
              <p:tags r:id="rId3"/>
            </p:custDataLst>
          </p:nvPr>
        </p:nvSpPr>
        <p:spPr>
          <a:xfrm>
            <a:off x="9537192" y="1152144"/>
            <a:ext cx="1298448" cy="1298448"/>
          </a:xfrm>
          <a:prstGeom prst="ellipse">
            <a:avLst/>
          </a:prstGeom>
          <a:solidFill>
            <a:schemeClr val="tx2">
              <a:alpha val="43000"/>
            </a:schemeClr>
          </a:solidFill>
        </p:spPr>
      </p:sp>
      <p:sp>
        <p:nvSpPr>
          <p:cNvPr id="9" name="Ellipse 37 (Stroke)_#color-2083&amp;10123"/>
          <p:cNvSpPr/>
          <p:nvPr userDrawn="1">
            <p:custDataLst>
              <p:tags r:id="rId4"/>
            </p:custDataLst>
          </p:nvPr>
        </p:nvSpPr>
        <p:spPr>
          <a:xfrm>
            <a:off x="0" y="0"/>
            <a:ext cx="2368296" cy="3410712"/>
          </a:xfrm>
          <a:custGeom>
            <a:avLst/>
            <a:gdLst/>
            <a:ahLst/>
            <a:cxnLst/>
            <a:rect l="l" t="t" r="r" b="b"/>
            <a:pathLst>
              <a:path w="2368296" h="3410712">
                <a:moveTo>
                  <a:pt x="0" y="2834640"/>
                </a:moveTo>
                <a:cubicBezTo>
                  <a:pt x="54864" y="2834640"/>
                  <a:pt x="109728" y="2834640"/>
                  <a:pt x="164592" y="2834640"/>
                </a:cubicBezTo>
                <a:cubicBezTo>
                  <a:pt x="1069848" y="2834640"/>
                  <a:pt x="1801368" y="2112264"/>
                  <a:pt x="1801368" y="1207008"/>
                </a:cubicBezTo>
                <a:cubicBezTo>
                  <a:pt x="1801368" y="731520"/>
                  <a:pt x="1591056" y="301752"/>
                  <a:pt x="1261872" y="0"/>
                </a:cubicBezTo>
                <a:lnTo>
                  <a:pt x="2011680" y="0"/>
                </a:lnTo>
                <a:cubicBezTo>
                  <a:pt x="2240280" y="347472"/>
                  <a:pt x="2368296" y="758952"/>
                  <a:pt x="2368296" y="1207008"/>
                </a:cubicBezTo>
                <a:cubicBezTo>
                  <a:pt x="2368296" y="2423160"/>
                  <a:pt x="1380744" y="3410712"/>
                  <a:pt x="164592" y="3410712"/>
                </a:cubicBezTo>
                <a:cubicBezTo>
                  <a:pt x="109728" y="3410712"/>
                  <a:pt x="54864" y="3410712"/>
                  <a:pt x="0" y="3401568"/>
                </a:cubicBezTo>
                <a:lnTo>
                  <a:pt x="0" y="2834640"/>
                </a:lnTo>
              </a:path>
            </a:pathLst>
          </a:custGeom>
          <a:solidFill>
            <a:schemeClr val="accent1"/>
          </a:solidFill>
        </p:spPr>
      </p:sp>
      <p:sp>
        <p:nvSpPr>
          <p:cNvPr id="11" name="Ellipse 40_#color_#strokes-2082&amp;9950"/>
          <p:cNvSpPr/>
          <p:nvPr userDrawn="1">
            <p:custDataLst>
              <p:tags r:id="rId5"/>
            </p:custDataLst>
          </p:nvPr>
        </p:nvSpPr>
        <p:spPr>
          <a:xfrm>
            <a:off x="10899648" y="3429000"/>
            <a:ext cx="530352" cy="530352"/>
          </a:xfrm>
          <a:prstGeom prst="ellipse">
            <a:avLst/>
          </a:prstGeom>
          <a:solidFill>
            <a:schemeClr val="accent1"/>
          </a:solidFill>
        </p:spPr>
      </p:sp>
      <p:sp>
        <p:nvSpPr>
          <p:cNvPr id="2" name="标题 1"/>
          <p:cNvSpPr>
            <a:spLocks noGrp="1"/>
          </p:cNvSpPr>
          <p:nvPr>
            <p:ph type="ctrTitle" hasCustomPrompt="1"/>
            <p:custDataLst>
              <p:tags r:id="rId6"/>
            </p:custDataLst>
          </p:nvPr>
        </p:nvSpPr>
        <p:spPr>
          <a:xfrm>
            <a:off x="1841500" y="555752"/>
            <a:ext cx="10096500" cy="3249648"/>
          </a:xfrm>
        </p:spPr>
        <p:txBody>
          <a:bodyPr wrap="square" anchor="b">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1841500" y="4217290"/>
            <a:ext cx="10096500" cy="1931921"/>
          </a:xfrm>
        </p:spPr>
        <p:txBody>
          <a:bodyPr wrap="square" anchor="t">
            <a:normAutofit/>
          </a:bodyPr>
          <a:lstStyle>
            <a:lvl1pPr marL="0" indent="0" algn="l">
              <a:lnSpc>
                <a:spcPct val="100000"/>
              </a:lnSpc>
              <a:buNone/>
              <a:defRPr sz="2400">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Ellipse 37 (Stroke)_#color-2083&amp;10114"/>
          <p:cNvSpPr/>
          <p:nvPr userDrawn="1">
            <p:custDataLst>
              <p:tags r:id="rId12"/>
            </p:custDataLst>
          </p:nvPr>
        </p:nvSpPr>
        <p:spPr>
          <a:xfrm>
            <a:off x="10497312" y="0"/>
            <a:ext cx="1691640" cy="1591056"/>
          </a:xfrm>
          <a:custGeom>
            <a:avLst/>
            <a:gdLst/>
            <a:ahLst/>
            <a:cxnLst/>
            <a:rect l="l" t="t" r="r" b="b"/>
            <a:pathLst>
              <a:path w="1691640" h="1591056">
                <a:moveTo>
                  <a:pt x="402336" y="0"/>
                </a:moveTo>
                <a:cubicBezTo>
                  <a:pt x="374904" y="82296"/>
                  <a:pt x="365760" y="164592"/>
                  <a:pt x="365760" y="246888"/>
                </a:cubicBezTo>
                <a:cubicBezTo>
                  <a:pt x="365760" y="786384"/>
                  <a:pt x="804672" y="1225296"/>
                  <a:pt x="1344168" y="1225296"/>
                </a:cubicBezTo>
                <a:cubicBezTo>
                  <a:pt x="1472184" y="1225296"/>
                  <a:pt x="1591056" y="1207008"/>
                  <a:pt x="1691640" y="1161288"/>
                </a:cubicBezTo>
                <a:lnTo>
                  <a:pt x="1691640" y="1545336"/>
                </a:lnTo>
                <a:cubicBezTo>
                  <a:pt x="1581912" y="1581912"/>
                  <a:pt x="1463040" y="1591056"/>
                  <a:pt x="1344168" y="1591056"/>
                </a:cubicBezTo>
                <a:cubicBezTo>
                  <a:pt x="603504" y="1591056"/>
                  <a:pt x="0" y="987552"/>
                  <a:pt x="0" y="246888"/>
                </a:cubicBezTo>
                <a:cubicBezTo>
                  <a:pt x="0" y="164592"/>
                  <a:pt x="9144" y="82296"/>
                  <a:pt x="18288" y="0"/>
                </a:cubicBezTo>
                <a:lnTo>
                  <a:pt x="402336" y="0"/>
                </a:lnTo>
              </a:path>
            </a:pathLst>
          </a:custGeom>
          <a:solidFill>
            <a:schemeClr val="accent1"/>
          </a:solidFill>
        </p:spPr>
      </p:sp>
      <p:sp>
        <p:nvSpPr>
          <p:cNvPr id="13" name="Ellipse 36-2083&amp;10117"/>
          <p:cNvSpPr/>
          <p:nvPr userDrawn="1">
            <p:custDataLst>
              <p:tags r:id="rId13"/>
            </p:custDataLst>
          </p:nvPr>
        </p:nvSpPr>
        <p:spPr>
          <a:xfrm>
            <a:off x="905256" y="5687568"/>
            <a:ext cx="2715768" cy="1170432"/>
          </a:xfrm>
          <a:custGeom>
            <a:avLst/>
            <a:gdLst/>
            <a:ahLst/>
            <a:cxnLst/>
            <a:rect l="l" t="t" r="r" b="b"/>
            <a:pathLst>
              <a:path w="2715768" h="1170432">
                <a:moveTo>
                  <a:pt x="2715768" y="1170432"/>
                </a:moveTo>
                <a:lnTo>
                  <a:pt x="0" y="1170432"/>
                </a:lnTo>
                <a:cubicBezTo>
                  <a:pt x="100584" y="502920"/>
                  <a:pt x="667512" y="0"/>
                  <a:pt x="1353312" y="0"/>
                </a:cubicBezTo>
                <a:cubicBezTo>
                  <a:pt x="2048256" y="0"/>
                  <a:pt x="2615184" y="502920"/>
                  <a:pt x="2715768" y="1170432"/>
                </a:cubicBezTo>
              </a:path>
            </a:pathLst>
          </a:custGeom>
          <a:solidFill>
            <a:schemeClr val="tx2">
              <a:alpha val="5000"/>
            </a:schemeClr>
          </a:solidFill>
        </p:spPr>
      </p:sp>
      <p:sp>
        <p:nvSpPr>
          <p:cNvPr id="2" name="标题占位符 1"/>
          <p:cNvSpPr>
            <a:spLocks noGrp="1"/>
          </p:cNvSpPr>
          <p:nvPr>
            <p:ph type="title"/>
            <p:custDataLst>
              <p:tags r:id="rId14"/>
            </p:custDataLst>
          </p:nvPr>
        </p:nvSpPr>
        <p:spPr>
          <a:xfrm>
            <a:off x="69480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5"/>
            </p:custDataLst>
          </p:nvPr>
        </p:nvSpPr>
        <p:spPr>
          <a:xfrm>
            <a:off x="694800" y="1364400"/>
            <a:ext cx="10800000" cy="4813200"/>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48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8"/>
            </p:custDataLst>
          </p:nvPr>
        </p:nvSpPr>
        <p:spPr>
          <a:xfrm>
            <a:off x="875160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8"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600" b="1"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0.xml"/><Relationship Id="rId1" Type="http://schemas.openxmlformats.org/officeDocument/2006/relationships/tags" Target="../tags/tag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2451100" y="862965"/>
            <a:ext cx="8887460" cy="2315845"/>
          </a:xfrm>
        </p:spPr>
        <p:txBody>
          <a:bodyPr>
            <a:normAutofit fontScale="90000"/>
          </a:bodyPr>
          <a:lstStyle/>
          <a:p>
            <a:r>
              <a:rPr lang="en-US" altLang="en-US" sz="4890"/>
              <a:t>Azure Bicep Infrastructure as Code for a Full Environment</a:t>
            </a:r>
            <a:endParaRPr lang="en-US" altLang="en-US" sz="4890"/>
          </a:p>
        </p:txBody>
      </p:sp>
      <p:sp>
        <p:nvSpPr>
          <p:cNvPr id="10" name="署名"/>
          <p:cNvSpPr>
            <a:spLocks noGrp="1"/>
          </p:cNvSpPr>
          <p:nvPr>
            <p:ph type="body" sz="quarter" idx="17"/>
            <p:custDataLst>
              <p:tags r:id="rId2"/>
            </p:custDataLst>
          </p:nvPr>
        </p:nvSpPr>
        <p:spPr>
          <a:xfrm>
            <a:off x="1870710" y="3511550"/>
            <a:ext cx="7492365" cy="2456180"/>
          </a:xfrm>
        </p:spPr>
        <p:txBody>
          <a:bodyPr>
            <a:normAutofit lnSpcReduction="20000"/>
          </a:bodyPr>
          <a:lstStyle/>
          <a:p>
            <a:r>
              <a:rPr lang="en-IN" altLang="en-US" b="1"/>
              <a:t>Team members </a:t>
            </a:r>
            <a:endParaRPr lang="en-IN" altLang="en-US" b="1"/>
          </a:p>
          <a:p>
            <a:endParaRPr lang="en-IN" altLang="en-US" b="1"/>
          </a:p>
          <a:p>
            <a:r>
              <a:rPr lang="en-IN" altLang="en-US" sz="2000">
                <a:latin typeface="Bahnschrift Light" panose="020B0502040204020203" charset="0"/>
                <a:cs typeface="Bahnschrift Light" panose="020B0502040204020203" charset="0"/>
              </a:rPr>
              <a:t>DHANVI SRI V - 2400032860</a:t>
            </a:r>
            <a:endParaRPr lang="en-IN" altLang="en-US" sz="2000">
              <a:latin typeface="Bahnschrift Light" panose="020B0502040204020203" charset="0"/>
              <a:cs typeface="Bahnschrift Light" panose="020B0502040204020203" charset="0"/>
            </a:endParaRPr>
          </a:p>
          <a:p>
            <a:r>
              <a:rPr lang="en-US" altLang="en-US" sz="2000">
                <a:latin typeface="Bahnschrift Light" panose="020B0502040204020203" charset="0"/>
                <a:cs typeface="Bahnschrift Light" panose="020B0502040204020203" charset="0"/>
              </a:rPr>
              <a:t>S</a:t>
            </a:r>
            <a:r>
              <a:rPr lang="en-IN" altLang="en-US" sz="2000">
                <a:latin typeface="Bahnschrift Light" panose="020B0502040204020203" charset="0"/>
                <a:cs typeface="Bahnschrift Light" panose="020B0502040204020203" charset="0"/>
              </a:rPr>
              <a:t>ANTHOSHI </a:t>
            </a:r>
            <a:r>
              <a:rPr lang="en-US" altLang="en-US" sz="2000">
                <a:latin typeface="Bahnschrift Light" panose="020B0502040204020203" charset="0"/>
                <a:cs typeface="Bahnschrift Light" panose="020B0502040204020203" charset="0"/>
              </a:rPr>
              <a:t>-</a:t>
            </a:r>
            <a:r>
              <a:rPr lang="en-IN" altLang="en-US" sz="2000">
                <a:latin typeface="Bahnschrift Light" panose="020B0502040204020203" charset="0"/>
                <a:cs typeface="Bahnschrift Light" panose="020B0502040204020203" charset="0"/>
              </a:rPr>
              <a:t> </a:t>
            </a:r>
            <a:r>
              <a:rPr lang="en-US" altLang="en-US" sz="2000">
                <a:latin typeface="Bahnschrift Light" panose="020B0502040204020203" charset="0"/>
                <a:cs typeface="Bahnschrift Light" panose="020B0502040204020203" charset="0"/>
              </a:rPr>
              <a:t>2400032737</a:t>
            </a:r>
            <a:endParaRPr lang="en-US" altLang="en-US" sz="2000">
              <a:latin typeface="Bahnschrift Light" panose="020B0502040204020203" charset="0"/>
              <a:cs typeface="Bahnschrift Light" panose="020B0502040204020203" charset="0"/>
            </a:endParaRPr>
          </a:p>
          <a:p>
            <a:r>
              <a:rPr lang="en-US" altLang="en-US" sz="2000">
                <a:latin typeface="Bahnschrift Light" panose="020B0502040204020203" charset="0"/>
                <a:cs typeface="Bahnschrift Light" panose="020B0502040204020203" charset="0"/>
              </a:rPr>
              <a:t>S</a:t>
            </a:r>
            <a:r>
              <a:rPr lang="en-IN" altLang="en-US" sz="2000">
                <a:latin typeface="Bahnschrift Light" panose="020B0502040204020203" charset="0"/>
                <a:cs typeface="Bahnschrift Light" panose="020B0502040204020203" charset="0"/>
              </a:rPr>
              <a:t>IRI</a:t>
            </a:r>
            <a:r>
              <a:rPr lang="en-US" altLang="en-US" sz="2000">
                <a:latin typeface="Bahnschrift Light" panose="020B0502040204020203" charset="0"/>
                <a:cs typeface="Bahnschrift Light" panose="020B0502040204020203" charset="0"/>
              </a:rPr>
              <a:t> </a:t>
            </a:r>
            <a:r>
              <a:rPr lang="en-IN" altLang="en-US" sz="2000">
                <a:latin typeface="Bahnschrift Light" panose="020B0502040204020203" charset="0"/>
                <a:cs typeface="Bahnschrift Light" panose="020B0502040204020203" charset="0"/>
              </a:rPr>
              <a:t>SAHITHI</a:t>
            </a:r>
            <a:r>
              <a:rPr lang="en-US" altLang="en-US" sz="2000">
                <a:latin typeface="Bahnschrift Light" panose="020B0502040204020203" charset="0"/>
                <a:cs typeface="Bahnschrift Light" panose="020B0502040204020203" charset="0"/>
              </a:rPr>
              <a:t> - 2400032881</a:t>
            </a:r>
            <a:endParaRPr lang="en-US" altLang="en-US" sz="2000">
              <a:latin typeface="Bahnschrift Light" panose="020B0502040204020203" charset="0"/>
              <a:cs typeface="Bahnschrift Light" panose="020B0502040204020203" charset="0"/>
            </a:endParaRPr>
          </a:p>
          <a:p>
            <a:r>
              <a:rPr lang="en-IN" altLang="en-US" sz="2000">
                <a:latin typeface="Bahnschrift Light" panose="020B0502040204020203" charset="0"/>
                <a:cs typeface="Bahnschrift Light" panose="020B0502040204020203" charset="0"/>
              </a:rPr>
              <a:t>G</a:t>
            </a:r>
            <a:r>
              <a:rPr lang="en-US" altLang="en-US" sz="2000">
                <a:latin typeface="Bahnschrift Light" panose="020B0502040204020203" charset="0"/>
                <a:cs typeface="Bahnschrift Light" panose="020B0502040204020203" charset="0"/>
              </a:rPr>
              <a:t>ORLE DAIWIK NAIDU - 2400032751</a:t>
            </a:r>
            <a:endParaRPr lang="en-US" altLang="en-US" sz="2000">
              <a:latin typeface="Bahnschrift Light" panose="020B0502040204020203" charset="0"/>
              <a:cs typeface="Bahnschrift Light" panose="020B0502040204020203"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t>I</a:t>
            </a:r>
            <a:r>
              <a:rPr lang="en-US" altLang="en-US"/>
              <a:t>ntroduction</a:t>
            </a:r>
            <a:endParaRPr lang="en-US" altLang="en-US"/>
          </a:p>
        </p:txBody>
      </p:sp>
      <p:sp>
        <p:nvSpPr>
          <p:cNvPr id="3" name="Content Placeholder 2"/>
          <p:cNvSpPr>
            <a:spLocks noGrp="1"/>
          </p:cNvSpPr>
          <p:nvPr>
            <p:ph idx="1"/>
            <p:custDataLst>
              <p:tags r:id="rId2"/>
            </p:custDataLst>
          </p:nvPr>
        </p:nvSpPr>
        <p:spPr/>
        <p:txBody>
          <a:bodyPr>
            <a:normAutofit fontScale="90000" lnSpcReduction="20000"/>
          </a:bodyPr>
          <a:p>
            <a:r>
              <a:rPr lang="en-US" altLang="en-US"/>
              <a:t>Azure Bicep is a domain-specific language used to implement Infrastructure as Code (IaC) in Microsoft Azure. It allows developers and cloud administrators to define Azure resources such as virtual networks, virtual machines, storage accounts, databases, and security components using code instead of creating them manually.</a:t>
            </a:r>
            <a:endParaRPr lang="en-US" altLang="en-US"/>
          </a:p>
          <a:p>
            <a:endParaRPr lang="en-US" altLang="en-US"/>
          </a:p>
          <a:p>
            <a:r>
              <a:rPr lang="en-US" altLang="en-US"/>
              <a:t>This project focuses on creating a complete Azure environment using reusable Bicep templates. The templates make infrastructure deployment faster, consistent, and repeatable. The same infrastructure can also be recreated in another Azure region with minimal changes, making the solution useful for scalability, disaster recovery, and multi-region deployment.</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Abstract</a:t>
            </a:r>
            <a:endParaRPr lang="en-US" altLang="en-US"/>
          </a:p>
        </p:txBody>
      </p:sp>
      <p:sp>
        <p:nvSpPr>
          <p:cNvPr id="3" name="Content Placeholder 2"/>
          <p:cNvSpPr>
            <a:spLocks noGrp="1"/>
          </p:cNvSpPr>
          <p:nvPr>
            <p:ph idx="1"/>
            <p:custDataLst>
              <p:tags r:id="rId2"/>
            </p:custDataLst>
          </p:nvPr>
        </p:nvSpPr>
        <p:spPr/>
        <p:txBody>
          <a:bodyPr>
            <a:normAutofit fontScale="90000" lnSpcReduction="10000"/>
          </a:bodyPr>
          <a:p>
            <a:r>
              <a:rPr lang="en-US" altLang="en-US"/>
              <a:t>The project, “Azure Bicep Infrastructure as Code for a Full Environment,” aims to automate the deployment and management of Azure infrastructure using Bicep templates. Instead of manually configuring individual Azure resources, all required resources and their configurations are defined in code and deployed together.</a:t>
            </a:r>
            <a:endParaRPr lang="en-US" altLang="en-US"/>
          </a:p>
          <a:p>
            <a:endParaRPr lang="en-US" altLang="en-US"/>
          </a:p>
          <a:p>
            <a:r>
              <a:rPr lang="en-US" altLang="en-US"/>
              <a:t>The project also uses reusable Bicep modules and parameters to make the infrastructure easy to maintain and customize. Azure's What-if operation can be used to preview changes before deployment. The solution helps reduce configuration errors, save deployment time, and recreate the same environment in a second Azure region.</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Problem Statement</a:t>
            </a:r>
            <a:endParaRPr lang="en-US" altLang="en-US"/>
          </a:p>
        </p:txBody>
      </p:sp>
      <p:sp>
        <p:nvSpPr>
          <p:cNvPr id="3" name="Content Placeholder 2"/>
          <p:cNvSpPr>
            <a:spLocks noGrp="1"/>
          </p:cNvSpPr>
          <p:nvPr>
            <p:ph idx="1"/>
            <p:custDataLst>
              <p:tags r:id="rId2"/>
            </p:custDataLst>
          </p:nvPr>
        </p:nvSpPr>
        <p:spPr/>
        <p:txBody>
          <a:bodyPr/>
          <a:p>
            <a:r>
              <a:rPr lang="en-US" altLang="en-US" sz="2000"/>
              <a:t>Manually creating and configuring multiple Azure resources is time-consuming, difficult to maintain, and prone to human errors. Recreating the same environment in another region requires repeating many configuration steps. Therefore, there is a need for an automated and reusable Infrastructure as Code solution that can deploy the complete Azure environment consistently while making changes easier to preview and manage.</a:t>
            </a:r>
            <a:endParaRPr lang="en-US" altLang="en-US" sz="200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Objectives</a:t>
            </a:r>
            <a:endParaRPr lang="en-US" altLang="en-US"/>
          </a:p>
        </p:txBody>
      </p:sp>
      <p:sp>
        <p:nvSpPr>
          <p:cNvPr id="3" name="Content Placeholder 2"/>
          <p:cNvSpPr>
            <a:spLocks noGrp="1"/>
          </p:cNvSpPr>
          <p:nvPr>
            <p:ph idx="1"/>
            <p:custDataLst>
              <p:tags r:id="rId2"/>
            </p:custDataLst>
          </p:nvPr>
        </p:nvSpPr>
        <p:spPr/>
        <p:txBody>
          <a:bodyPr/>
          <a:p>
            <a:r>
              <a:rPr lang="en-US" altLang="en-US" sz="2000"/>
              <a:t>Automate Azure infrastructure deployment using Bicep.</a:t>
            </a:r>
            <a:endParaRPr lang="en-US" altLang="en-US" sz="2000"/>
          </a:p>
          <a:p>
            <a:r>
              <a:rPr lang="en-US" altLang="en-US" sz="2000"/>
              <a:t>Create reusable and maintainable infrastructure templates.</a:t>
            </a:r>
            <a:endParaRPr lang="en-US" altLang="en-US" sz="2000"/>
          </a:p>
          <a:p>
            <a:r>
              <a:rPr lang="en-US" altLang="en-US" sz="2000"/>
              <a:t>Reduce manual configuration and deployment errors.</a:t>
            </a:r>
            <a:endParaRPr lang="en-US" altLang="en-US" sz="2000"/>
          </a:p>
          <a:p>
            <a:r>
              <a:rPr lang="en-US" altLang="en-US" sz="2000"/>
              <a:t>Deploy multiple Azure resources as a complete environment.</a:t>
            </a:r>
            <a:endParaRPr lang="en-US" altLang="en-US" sz="2000"/>
          </a:p>
          <a:p>
            <a:r>
              <a:rPr lang="en-US" altLang="en-US" sz="2000"/>
              <a:t>Enable recreation of the environment in a second region.</a:t>
            </a:r>
            <a:endParaRPr lang="en-US" altLang="en-US" sz="2000"/>
          </a:p>
          <a:p>
            <a:r>
              <a:rPr lang="en-US" altLang="en-US" sz="2000"/>
              <a:t>Use Bicep modules for better organization and reusability.</a:t>
            </a:r>
            <a:endParaRPr lang="en-US" altLang="en-US" sz="2000"/>
          </a:p>
          <a:p>
            <a:r>
              <a:rPr lang="en-US" altLang="en-US" sz="2000"/>
              <a:t>Use the What-if feature to preview infrastructure changes.</a:t>
            </a:r>
            <a:endParaRPr lang="en-US" altLang="en-US" sz="2000"/>
          </a:p>
          <a:p>
            <a:r>
              <a:rPr lang="en-US" altLang="en-US" sz="2000"/>
              <a:t>Improve consistency and simplify cloud infrastructure management.</a:t>
            </a:r>
            <a:endParaRPr lang="en-US" altLang="en-US" sz="2000"/>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Requirements</a:t>
            </a:r>
            <a:endParaRPr lang="en-US" altLang="en-US"/>
          </a:p>
        </p:txBody>
      </p:sp>
      <p:sp>
        <p:nvSpPr>
          <p:cNvPr id="3" name="Content Placeholder 2"/>
          <p:cNvSpPr>
            <a:spLocks noGrp="1"/>
          </p:cNvSpPr>
          <p:nvPr>
            <p:ph idx="1"/>
            <p:custDataLst>
              <p:tags r:id="rId2"/>
            </p:custDataLst>
          </p:nvPr>
        </p:nvSpPr>
        <p:spPr/>
        <p:txBody>
          <a:bodyPr>
            <a:noAutofit/>
          </a:bodyPr>
          <a:p>
            <a:r>
              <a:rPr lang="en-US" altLang="en-US" b="1"/>
              <a:t>Hardware Requirements</a:t>
            </a:r>
            <a:endParaRPr lang="en-US" altLang="en-US" sz="2000"/>
          </a:p>
          <a:p>
            <a:r>
              <a:rPr lang="en-US" altLang="en-US" sz="2000"/>
              <a:t>Computer or laptop</a:t>
            </a:r>
            <a:endParaRPr lang="en-US" altLang="en-US" sz="2000"/>
          </a:p>
          <a:p>
            <a:r>
              <a:rPr lang="en-US" altLang="en-US" sz="2000"/>
              <a:t>Minimum 4 GB RAM</a:t>
            </a:r>
            <a:endParaRPr lang="en-US" altLang="en-US" sz="2000"/>
          </a:p>
          <a:p>
            <a:r>
              <a:rPr lang="en-US" altLang="en-US" sz="2000"/>
              <a:t>Stable internet connection</a:t>
            </a:r>
            <a:endParaRPr lang="en-US" altLang="en-US" sz="2000"/>
          </a:p>
          <a:p>
            <a:endParaRPr lang="en-US" altLang="en-US" sz="2000"/>
          </a:p>
          <a:p>
            <a:r>
              <a:rPr lang="en-US" altLang="en-US" b="1"/>
              <a:t>Software Requirements</a:t>
            </a:r>
            <a:endParaRPr lang="en-US" altLang="en-US" b="1"/>
          </a:p>
          <a:p>
            <a:r>
              <a:rPr lang="en-US" altLang="en-US" sz="2000"/>
              <a:t>Microsoft Azure account with an active subscription</a:t>
            </a:r>
            <a:endParaRPr lang="en-US" altLang="en-US" sz="2000"/>
          </a:p>
          <a:p>
            <a:r>
              <a:rPr lang="en-US" altLang="en-US" sz="2000"/>
              <a:t>Visual Studio Code</a:t>
            </a:r>
            <a:endParaRPr lang="en-US" altLang="en-US" sz="2000"/>
          </a:p>
          <a:p>
            <a:endParaRPr lang="en-US" altLang="en-US" sz="200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4690" y="450850"/>
            <a:ext cx="10800080" cy="5727065"/>
          </a:xfrm>
        </p:spPr>
        <p:txBody>
          <a:bodyPr>
            <a:noAutofit/>
          </a:bodyPr>
          <a:p>
            <a:r>
              <a:rPr lang="en-US" altLang="en-US" sz="2000">
                <a:sym typeface="+mn-ea"/>
              </a:rPr>
              <a:t>Azure Bicep extension</a:t>
            </a:r>
            <a:endParaRPr lang="en-US" altLang="en-US" sz="2000"/>
          </a:p>
          <a:p>
            <a:r>
              <a:rPr lang="en-US" altLang="en-US" sz="2000">
                <a:sym typeface="+mn-ea"/>
              </a:rPr>
              <a:t>Azure CLI or Azure PowerShell</a:t>
            </a:r>
            <a:endParaRPr lang="en-US" altLang="en-US" sz="2000"/>
          </a:p>
          <a:p>
            <a:r>
              <a:rPr lang="en-US" altLang="en-US" sz="2000">
                <a:sym typeface="+mn-ea"/>
              </a:rPr>
              <a:t>Git for version control</a:t>
            </a:r>
            <a:endParaRPr lang="en-US" altLang="en-US" sz="2000"/>
          </a:p>
          <a:p>
            <a:pPr marL="0" indent="0">
              <a:buNone/>
            </a:pPr>
            <a:br>
              <a:rPr lang="en-US" altLang="en-US" sz="2000">
                <a:sym typeface="+mn-ea"/>
              </a:rPr>
            </a:br>
            <a:r>
              <a:rPr lang="en-US" altLang="en-US" b="1">
                <a:sym typeface="+mn-ea"/>
              </a:rPr>
              <a:t>Azure Requirements</a:t>
            </a:r>
            <a:endParaRPr lang="en-US" altLang="en-US" b="1"/>
          </a:p>
          <a:p>
            <a:r>
              <a:rPr lang="en-US" altLang="en-US" sz="2000">
                <a:sym typeface="+mn-ea"/>
              </a:rPr>
              <a:t>Azure Resource Group</a:t>
            </a:r>
            <a:endParaRPr lang="en-US" altLang="en-US" sz="2000"/>
          </a:p>
          <a:p>
            <a:r>
              <a:rPr lang="en-US" altLang="en-US" sz="2000">
                <a:sym typeface="+mn-ea"/>
              </a:rPr>
              <a:t>Required Azure resources such as VNet, subnets, storage, VM, etc.</a:t>
            </a:r>
            <a:endParaRPr lang="en-US" altLang="en-US" sz="2000"/>
          </a:p>
          <a:p>
            <a:r>
              <a:rPr lang="en-US" altLang="en-US" sz="2000">
                <a:sym typeface="+mn-ea"/>
              </a:rPr>
              <a:t>Appropriate Azure permissions</a:t>
            </a:r>
            <a:endParaRPr lang="en-US" altLang="en-US" sz="2000"/>
          </a:p>
          <a:p>
            <a:r>
              <a:rPr lang="en-US" altLang="en-US" sz="2000">
                <a:sym typeface="+mn-ea"/>
              </a:rPr>
              <a:t>Target Azure regions for deployment</a:t>
            </a:r>
            <a:endParaRPr lang="en-US" altLang="en-US" sz="2000"/>
          </a:p>
          <a:p>
            <a:endParaRPr lang="en-US" altLang="en-US" sz="2000"/>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Conclusion</a:t>
            </a:r>
            <a:endParaRPr lang="en-US" altLang="en-US"/>
          </a:p>
        </p:txBody>
      </p:sp>
      <p:sp>
        <p:nvSpPr>
          <p:cNvPr id="3" name="Content Placeholder 2"/>
          <p:cNvSpPr>
            <a:spLocks noGrp="1"/>
          </p:cNvSpPr>
          <p:nvPr>
            <p:ph idx="1"/>
            <p:custDataLst>
              <p:tags r:id="rId2"/>
            </p:custDataLst>
          </p:nvPr>
        </p:nvSpPr>
        <p:spPr/>
        <p:txBody>
          <a:bodyPr>
            <a:normAutofit lnSpcReduction="10000"/>
          </a:bodyPr>
          <a:p>
            <a:r>
              <a:rPr lang="en-US" altLang="en-US"/>
              <a:t>The Azure Bicep Infrastructure as Code project provides an automated, reusable, and reliable approach to Azure infrastructure deployment. By defining resources as code, the project reduces manual effort and configuration errors while making the environment easier to maintain.</a:t>
            </a:r>
            <a:endParaRPr lang="en-US" altLang="en-US"/>
          </a:p>
          <a:p>
            <a:endParaRPr lang="en-US" altLang="en-US"/>
          </a:p>
          <a:p>
            <a:r>
              <a:rPr lang="en-US" altLang="en-US"/>
              <a:t>The same Bicep templates can be reused to deploy the infrastructure in another region, providing flexibility and scalability. Overall, the project demonstrates how Infrastructure as Code can simplify Azure cloud deployment and management.</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t>THANK YOU</a:t>
            </a:r>
            <a:endParaRPr 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0.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5.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6.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8.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5.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6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6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7.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77"/>
</p:tagLst>
</file>

<file path=ppt/tags/tag71.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77"/>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77"/>
</p:tagLst>
</file>

<file path=ppt/tags/tag76.xml><?xml version="1.0" encoding="utf-8"?>
<p:tagLst xmlns:p="http://schemas.openxmlformats.org/presentationml/2006/main">
  <p:tag name="KSO_WM_UNIT_ISCONTENTSTITLE" val="0"/>
  <p:tag name="KSO_WM_UNIT_ISNUMDGMTITLE" val="0"/>
  <p:tag name="KSO_WM_UNIT_PRESET_TEXT" val="The title goes here"/>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77_1*a*1"/>
  <p:tag name="KSO_WM_TEMPLATE_CATEGORY" val="custom"/>
  <p:tag name="KSO_WM_TEMPLATE_INDEX" val="20233477"/>
  <p:tag name="KSO_WM_UNIT_LAYERLEVEL" val="1"/>
  <p:tag name="KSO_WM_TAG_VERSION" val="3.0"/>
  <p:tag name="KSO_WM_BEAUTIFY_FLAG" val="#wm#"/>
</p:tagLst>
</file>

<file path=ppt/tags/tag77.xml><?xml version="1.0" encoding="utf-8"?>
<p:tagLst xmlns:p="http://schemas.openxmlformats.org/presentationml/2006/main">
  <p:tag name="KSO_WM_UNIT_SUBTYPE" val="b"/>
  <p:tag name="KSO_WM_UNIT_PRESET_TEXT" val="Name"/>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477_1*f*4"/>
  <p:tag name="KSO_WM_TEMPLATE_CATEGORY" val="custom"/>
  <p:tag name="KSO_WM_TEMPLATE_INDEX" val="20233477"/>
  <p:tag name="KSO_WM_UNIT_LAYERLEVEL" val="1"/>
  <p:tag name="KSO_WM_TAG_VERSION" val="3.0"/>
  <p:tag name="KSO_WM_BEAUTIFY_FLAG" val="#wm#"/>
</p:tagLst>
</file>

<file path=ppt/tags/tag78.xml><?xml version="1.0" encoding="utf-8"?>
<p:tagLst xmlns:p="http://schemas.openxmlformats.org/presentationml/2006/main">
  <p:tag name="KSO_WM_SPECIAL_SOURCE" val="bdnull"/>
  <p:tag name="KSO_WM_TEMPLATE_THUMBS_INDEX" val="1、9"/>
  <p:tag name="KSO_WM_SLIDE_ID" val="custom2023347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77"/>
  <p:tag name="KSO_WM_SLIDE_LAYOUT" val="a_f"/>
  <p:tag name="KSO_WM_SLIDE_LAYOUT_CNT" val="1_1"/>
</p:tagLst>
</file>

<file path=ppt/tags/tag7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33477"/>
</p:tagLst>
</file>

<file path=ppt/tags/tag8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33477"/>
</p:tagLst>
</file>

<file path=ppt/tags/tag8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33477"/>
</p:tagLst>
</file>

<file path=ppt/tags/tag8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33477"/>
</p:tagLst>
</file>

<file path=ppt/tags/tag9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33477"/>
</p:tagLst>
</file>

<file path=ppt/tags/tag9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33477"/>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33477"/>
</p:tagLst>
</file>

<file path=ppt/tags/tag9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3477_9*a*1"/>
  <p:tag name="KSO_WM_TEMPLATE_CATEGORY" val="custom"/>
  <p:tag name="KSO_WM_TEMPLATE_INDEX" val="20233477"/>
  <p:tag name="KSO_WM_UNIT_LAYERLEVEL" val="1"/>
  <p:tag name="KSO_WM_TAG_VERSION" val="3.0"/>
  <p:tag name="KSO_WM_BEAUTIFY_FLAG" val="#wm#"/>
  <p:tag name="KSO_WM_UNIT_PRESET_TEXT" val="THANK YOU"/>
</p:tagLst>
</file>

<file path=ppt/tags/tag100.xml><?xml version="1.0" encoding="utf-8"?>
<p:tagLst xmlns:p="http://schemas.openxmlformats.org/presentationml/2006/main">
  <p:tag name="KSO_WM_SPECIAL_SOURCE" val="bdnull"/>
  <p:tag name="KSO_WM_SLIDE_ID" val="custom20233477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77"/>
  <p:tag name="KSO_WM_SLIDE_LAYOUT" val="a_f"/>
  <p:tag name="KSO_WM_SLIDE_LAYOUT_CNT" val="1_1"/>
</p:tagLst>
</file>

<file path=ppt/theme/theme1.xml><?xml version="1.0" encoding="utf-8"?>
<a:theme xmlns:a="http://schemas.openxmlformats.org/drawingml/2006/main" name="Office Theme">
  <a:themeElements>
    <a:clrScheme name="自定义 89">
      <a:dk1>
        <a:srgbClr val="000000"/>
      </a:dk1>
      <a:lt1>
        <a:srgbClr val="FFFFFF"/>
      </a:lt1>
      <a:dk2>
        <a:srgbClr val="000000"/>
      </a:dk2>
      <a:lt2>
        <a:srgbClr val="FFFFFF"/>
      </a:lt2>
      <a:accent1>
        <a:srgbClr val="FFC000"/>
      </a:accent1>
      <a:accent2>
        <a:srgbClr val="FF7A00"/>
      </a:accent2>
      <a:accent3>
        <a:srgbClr val="FF9900"/>
      </a:accent3>
      <a:accent4>
        <a:srgbClr val="75BD42"/>
      </a:accent4>
      <a:accent5>
        <a:srgbClr val="30C0B4"/>
      </a:accent5>
      <a:accent6>
        <a:srgbClr val="E54C5E"/>
      </a:accent6>
      <a:hlink>
        <a:srgbClr val="658BD5"/>
      </a:hlink>
      <a:folHlink>
        <a:srgbClr val="A16AA5"/>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3378</Words>
  <Application>WPS Presentation</Application>
  <PresentationFormat>Widescreen</PresentationFormat>
  <Paragraphs>66</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SimSun</vt:lpstr>
      <vt:lpstr>Wingdings</vt:lpstr>
      <vt:lpstr>Bahnschrift Light</vt:lpstr>
      <vt:lpstr>Lato</vt:lpstr>
      <vt:lpstr>Segoe Print</vt:lpstr>
      <vt:lpstr>Manrope ExtraBold</vt:lpstr>
      <vt:lpstr>Microsoft YaHei</vt:lpstr>
      <vt:lpstr>Arial Unicode MS</vt:lpstr>
      <vt:lpstr>Calibri</vt:lpstr>
      <vt:lpstr>Office Theme</vt:lpstr>
      <vt:lpstr>Azure Bicep Infrastructure as Code for a Full Environment</vt:lpstr>
      <vt:lpstr>Introduction</vt:lpstr>
      <vt:lpstr>Abstract</vt:lpstr>
      <vt:lpstr>Problem Statement</vt:lpstr>
      <vt:lpstr>Objectives</vt:lpstr>
      <vt:lpstr>Requirements</vt:lpstr>
      <vt:lpstr>PowerPoint 演示文稿</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Bicep Infrastructure as Code for a Full Environment</dc:title>
  <dc:creator>sjaga</dc:creator>
  <cp:lastModifiedBy>sjaga</cp:lastModifiedBy>
  <cp:revision>2</cp:revision>
  <dcterms:created xsi:type="dcterms:W3CDTF">2026-09-01T15:07:00Z</dcterms:created>
  <dcterms:modified xsi:type="dcterms:W3CDTF">2026-09-01T17:01:04Z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B98C4449D8E344D6B3ADCCCC979A0CE6_11</vt:lpwstr>
  </property>
</Properties>
</file>